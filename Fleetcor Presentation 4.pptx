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4" r:id="rId4"/>
    <p:sldId id="274" r:id="rId5"/>
    <p:sldId id="258" r:id="rId6"/>
    <p:sldId id="266" r:id="rId7"/>
    <p:sldId id="271" r:id="rId8"/>
    <p:sldId id="275" r:id="rId9"/>
    <p:sldId id="272" r:id="rId10"/>
    <p:sldId id="276" r:id="rId11"/>
    <p:sldId id="261" r:id="rId12"/>
    <p:sldId id="269" r:id="rId13"/>
    <p:sldId id="263" r:id="rId14"/>
    <p:sldId id="273" r:id="rId15"/>
    <p:sldId id="270" r:id="rId16"/>
    <p:sldId id="265" r:id="rId1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906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CBDC7-F1BE-4749-9113-47EBB09DAC0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84615A-E9BE-40F0-B3F0-794DE765A8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6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4615A-E9BE-40F0-B3F0-794DE765A8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59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4615A-E9BE-40F0-B3F0-794DE765A8E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051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4615A-E9BE-40F0-B3F0-794DE765A8E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3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84615A-E9BE-40F0-B3F0-794DE765A8E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726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4D0B2-B575-CC83-D0D5-22E5F4BAA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E956C5-11FE-3A4E-9229-AEBB95426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31046-78FE-10C9-7CDA-3415FFB82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F432-6072-494E-99AF-9AE04A1FD02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B21C8-E430-4B55-636A-350A3896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60B74-F505-BF2A-82E4-206F053A5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A0DB-C52D-498E-93B8-01080385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3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7DDBA-C7A4-DB3A-815E-EBBA9C9F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AC280-8B9D-3388-9EC3-942F79A9A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87EBA-AF90-EFB8-1493-77B583853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F432-6072-494E-99AF-9AE04A1FD02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7D965-7980-E4F0-0B94-7223012C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0E811-DE88-995A-CE4C-34E00A51C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A0DB-C52D-498E-93B8-01080385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5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7EBC0-4C6E-7918-E53A-B11D71022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46485-9CA8-8FE4-7837-27FA044E1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14B93-EC2B-7213-02CB-DDD96F8CB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F432-6072-494E-99AF-9AE04A1FD02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BAE66-90AA-C6EB-CC12-699B1D7F6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3710B-D56E-D7D9-D54A-107C5B4B1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A0DB-C52D-498E-93B8-01080385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56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36CA5-A639-D325-C86A-3FE3D403F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B1228-0138-1E46-C3C1-8126FCE3B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C46954-450D-16E0-8CAF-5EF519F68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AC00A-38C5-B55F-9155-10CCEBAD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F432-6072-494E-99AF-9AE04A1FD02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874E4-85D5-B3CE-F385-FA94D0E07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CF8DE-9AB2-0293-4548-208226C94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A0DB-C52D-498E-93B8-01080385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42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7E70-2548-6694-5761-A1A0FB34A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1F3B5-685F-2755-883D-432E970B4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0FA04-40A0-2C3C-EF79-2F9BD5FEB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B847B5-7F1F-9E38-8DAF-46B86A74F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498911-2B5D-FE50-A7AF-6C50137C26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75915C-EBE1-CD2F-F166-8C15C2A29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F432-6072-494E-99AF-9AE04A1FD02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27050-0B32-6B18-248C-E31AD659F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3E6083-CA40-72CB-483D-A480F0F6E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A0DB-C52D-498E-93B8-01080385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20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44F6-0157-4027-A837-3E8052FD7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BF780B-2131-8CCA-2092-359BEDDF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F432-6072-494E-99AF-9AE04A1FD02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D3D8E-E402-E106-DCFE-388039384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352DC-935D-E536-4088-B7914CB0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A0DB-C52D-498E-93B8-01080385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10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0466BD-1914-43DF-40FA-7725F16E1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F432-6072-494E-99AF-9AE04A1FD02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94E7E5-16B6-3187-0A2A-E1544EA15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60593-F9CF-8960-AF52-671102C4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A0DB-C52D-498E-93B8-01080385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3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7B241-0927-5AA9-1DE1-C212F67B6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549BD-8C64-AC7A-1461-2706E2B96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6495D-EC52-52F5-F70E-EE83B0A31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71B88-1B3C-02FC-65C0-533239D4D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F432-6072-494E-99AF-9AE04A1FD02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F4745-E564-0A17-BEC3-ECB56B7A9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27C75-0638-C559-6620-9705DE12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A0DB-C52D-498E-93B8-01080385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1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D5150-1421-768A-4241-286F2FDAA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AB6498-65DF-0B63-E212-9DE23178F0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569E8-242C-9120-4C3F-5E7E85DDE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C7314-6F39-5895-93BE-A4A50C38D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F432-6072-494E-99AF-9AE04A1FD02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ACC79-BAAB-510F-9842-350C3B65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AF390-E9ED-E6DD-8404-9C579E40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A0DB-C52D-498E-93B8-01080385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91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D4E2D-D5FB-2BA9-BCF4-0733F215F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C291FB-3EB9-AF5A-3FCF-4BCA1CF4F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6C1CF-F808-5B62-687A-4EA4C5A07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F432-6072-494E-99AF-9AE04A1FD02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86C8E-E902-9D6A-A257-4594FAAE7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5B107-4AF6-CCBC-AECD-F942B9CA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A0DB-C52D-498E-93B8-01080385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45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AC363-1179-4598-5D63-C4133AA9D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72297-3DC8-320B-B1C7-D09DA7769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FF4E3-B5D6-748C-3366-DCE67D8A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F432-6072-494E-99AF-9AE04A1FD02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A1DC5-B4B2-9D47-994D-724DDBD6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8215-1D22-3D54-F9AB-4BFE7B5B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5A0DB-C52D-498E-93B8-01080385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3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C58CA-0C14-4B70-304E-6E09E7E62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33DAB-284C-1CBB-B78A-8D3C854E6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A02E1-444D-5E75-D558-0987C2F64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8EF432-6072-494E-99AF-9AE04A1FD025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12B9D-6F7B-E339-A151-108F17952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B30D7-F576-E37D-25D3-B0D2B4554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5A0DB-C52D-498E-93B8-010803850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1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E2F397B-4BB1-48C6-9EE0-C8B339968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E29D4-D479-8A33-F5E3-D38234B50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0202" y="886176"/>
            <a:ext cx="5095797" cy="2325342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6200" dirty="0"/>
              <a:t>Group 3</a:t>
            </a:r>
            <a:br>
              <a:rPr lang="en-US" sz="6200" dirty="0"/>
            </a:br>
            <a:r>
              <a:rPr lang="en-US" sz="6200" dirty="0" err="1"/>
              <a:t>FleetCor</a:t>
            </a:r>
            <a:r>
              <a:rPr lang="en-US" sz="6200" dirty="0"/>
              <a:t>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4BFD7-EC7B-4991-AD1E-DD2EFBE7F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0203" y="3756520"/>
            <a:ext cx="5095796" cy="1709849"/>
          </a:xfrm>
        </p:spPr>
        <p:txBody>
          <a:bodyPr anchor="b">
            <a:normAutofit fontScale="85000" lnSpcReduction="20000"/>
          </a:bodyPr>
          <a:lstStyle/>
          <a:p>
            <a:pPr algn="l"/>
            <a:r>
              <a:rPr lang="en-US" sz="2300" dirty="0"/>
              <a:t>Dhwani Pathak</a:t>
            </a:r>
          </a:p>
          <a:p>
            <a:pPr algn="l"/>
            <a:r>
              <a:rPr lang="en-US" sz="2300" dirty="0"/>
              <a:t>Naga Sai Harika Mangina</a:t>
            </a:r>
          </a:p>
          <a:p>
            <a:pPr algn="l"/>
            <a:r>
              <a:rPr lang="en-US" sz="2300" dirty="0" err="1"/>
              <a:t>Mathukutty</a:t>
            </a:r>
            <a:r>
              <a:rPr lang="en-US" sz="2300" dirty="0"/>
              <a:t> Manoj</a:t>
            </a:r>
          </a:p>
          <a:p>
            <a:pPr algn="l"/>
            <a:r>
              <a:rPr lang="en-US" sz="2300" dirty="0"/>
              <a:t>Johanna Susan Eapen</a:t>
            </a:r>
          </a:p>
          <a:p>
            <a:pPr algn="l"/>
            <a:r>
              <a:rPr lang="en-US" sz="2300" dirty="0"/>
              <a:t>Sameer Shaik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96618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856C990-1500-4B50-B148-B7E1943FE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5" y="268076"/>
            <a:ext cx="4479729" cy="28263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1A473-358F-25EE-11C2-A08CB994B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486" y="268076"/>
            <a:ext cx="3927248" cy="2821312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6" y="3308462"/>
            <a:ext cx="4479729" cy="28263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21DC1-F523-4E46-FC1E-A63DDAFFD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927" y="4245154"/>
            <a:ext cx="3980763" cy="133278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16753" y="6353865"/>
            <a:ext cx="4478419" cy="469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94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03CBE6E-E6B2-417D-A61A-D5F70F02A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66BE98-0341-4CFA-8601-3E68FB730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39937"/>
            <a:ext cx="4525605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4A495-163C-CBC4-DCC3-6632066D3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539" y="1458180"/>
            <a:ext cx="3100522" cy="3941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Q1: How do Swap-In accounts perform compared to Do Not Target accounts in terms of key financial KPIs?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3E89A1-984A-4500-9453-4203AD1B8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E0A74-6021-B17D-C3E6-222030FC8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851" y="1458180"/>
            <a:ext cx="5337242" cy="3941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700"/>
              <a:t>Total Payment: Swap-In accounts contributed $3.32B, compared to $3.70B from Do Not Target accounts. Net delta: −376.60M.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700"/>
              <a:t>Net Revenue: Swap-In accounts yielded $160.03M vs. $197.84M for Do Not Target. Net delta: −37.81M.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700"/>
              <a:t>Avg Vantage Score: Swap-In average is 722.10, higher than Do Not Target at 699.51.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700"/>
              <a:t>Avg PAYDEX: Swap-In accounts show a healthier score of 77.55, compared to 65.87 for Do Not Target.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700"/>
              <a:t>Insight: Despite lower revenue and payment, Swap-In accounts have stronger risk profiles (higher Vantage &amp; PAYDEX).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D642B-C569-4ABB-AE20-EFA6BC995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54055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92FED3-1F18-4138-B4E4-627D78B00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64601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27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F38DF0-8E3B-1138-656A-A9ED31659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4" y="457200"/>
            <a:ext cx="1061357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5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BF3B7-D452-B2AC-A17C-8186E072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E6B9C6-F1C4-3F6B-8E6E-E052D18EC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8B9098-3B9C-3B0B-D704-E38ECCB45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0F6C73-8A90-9641-0AD1-64BA35851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59A2F9-B6F5-F678-1172-6C0DBA27F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C6A51C-9A03-CDB8-FE4B-C434D12F1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4" y="457200"/>
            <a:ext cx="10613571" cy="594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9D3980-D7F5-C0F4-7757-4C072E1AD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39" y="313890"/>
            <a:ext cx="11079121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114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8C1B5-23EF-BCF6-22FB-02066379B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3CBE6E-E6B2-417D-A61A-D5F70F02A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66BE98-0341-4CFA-8601-3E68FB730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39937"/>
            <a:ext cx="4525605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FBC682-74A1-8BB0-399E-AC53C45F2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539" y="1458180"/>
            <a:ext cx="3100522" cy="3941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Q2: What is the segment profile of Non Cross-Sell accounts by Lock Type, Credit Grade, and Line of Business?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E89A1-984A-4500-9453-4203AD1B8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7D5ED-C77B-C040-33C4-BCE6DDCB5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851" y="1458180"/>
            <a:ext cx="5337242" cy="3941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Lock Type: 63.12% of accounts are TEMP LOCK, 29.81% are PERM LOCK, and 3.07% are UNLOCKED.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LOB: Largest proportion from NAP (58.59%) and Fuelman (26.92%).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Credit Grade: Majority are B (32.41%) and A (31.15%).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Insight: Most accounts are locked and clustered around mid-to-high credit grades, primarily from NAP and Fuelman.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D642B-C569-4ABB-AE20-EFA6BC995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54055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92FED3-1F18-4138-B4E4-627D78B00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64601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57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DA6DECFD-A2DC-584F-54E8-71292EAA3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/>
        </p:blipFill>
        <p:spPr>
          <a:xfrm>
            <a:off x="811819" y="457200"/>
            <a:ext cx="1056836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3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93CEF-7ACE-1E27-F5E6-3B06C9DCF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5F5C119-3F47-0C33-E552-19C199DC9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A895BD-A529-F882-6C6B-7BC72169D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39937"/>
            <a:ext cx="4525605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6C823E-FE6B-803E-0264-F5D1A31F5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539" y="1458180"/>
            <a:ext cx="3100522" cy="3941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Q3: Who should be eligible for Swap-In based on payment and credit metrics?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A52F70-0A4B-4DDE-5C4F-0E2501602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D26B7-5CE2-354B-4E2A-BD64DC620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851" y="1458180"/>
            <a:ext cx="5337242" cy="3941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/>
              <a:t>Eligibility Rule: Accounts with good payment history, higher PAYDEX, Vantage score &gt;700, and consistent CLI usage.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Eligible Accounts Identified: 6,434 accounts flagged for Swap-In.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Insight: Eligible Swap-In accounts show strong risk-adjusted returns.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2ADE82-D9A2-3013-8CC9-1F8581344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54055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702301-84F7-6633-B4A2-A371CEE36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64601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18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EEA130-65B4-2C09-74D4-67B9F941A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A4971B-4F87-73A7-B532-12E4BB1A2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90B110-EDE7-701F-1748-A1966B118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C86544-FBD8-3D91-48B7-CF495FF20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13975-C83E-A448-0471-EF8CCF307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05BEAF-E551-95AD-B241-0AC323A2B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4" y="457200"/>
            <a:ext cx="1061357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50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960FE-FBF3-92BA-CBAB-C46E94DB1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E4C776-9781-721A-CC61-A35195B90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FACD0F-8F00-7CDE-CB50-EFB6FBFFE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39937"/>
            <a:ext cx="4525605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D3B7C-5665-6C09-8337-A2FBCA69C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539" y="1458180"/>
            <a:ext cx="3100522" cy="3941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Q4: What risk indicators should be used to Swap-Out accounts?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2C0D94-FD70-FF89-ACC2-50BE2696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81F7C-0B2A-C1FD-E765-CA9542C57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851" y="1458180"/>
            <a:ext cx="5337242" cy="3941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Swap-Out Indicators: High NSF count, low PAYDEX (</a:t>
            </a:r>
            <a:r>
              <a:rPr lang="it-IT" sz="2000" dirty="0"/>
              <a:t>&lt;60)</a:t>
            </a:r>
            <a:r>
              <a:rPr lang="en-US" sz="2000" dirty="0"/>
              <a:t>, credit grades of F/X/C2, and PERM LOCK status.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Identified Swap-Out Accounts: 431,180 flagged.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Insight: Swap-Out logic helps reduce exposure to underperforming, locked, or high-risk segments.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09F175-9739-303B-5B30-B54935C24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54055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96B2E7-2723-8990-F39A-8A4C016CD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64601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69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4FA7D-10AD-34BD-23D5-F7376F218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AA308E3-5EE2-8995-9E08-02083F818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3BB693-AE53-4F1E-8C20-89F386168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2937FF-6F69-507A-110F-1F93D7AAF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2D03DD-8C6C-89E2-48BC-D0523D22B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37F4E9-229F-49FD-6455-8477B8FC8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54" y="261723"/>
            <a:ext cx="11134725" cy="6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9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8E37C-4F94-8D53-36D2-CF95F9851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3CBE6E-E6B2-417D-A61A-D5F70F02A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66BE98-0341-4CFA-8601-3E68FB730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539937"/>
            <a:ext cx="4525605" cy="577812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FC860A-345B-7E86-CC7D-1165E2B65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539" y="1458180"/>
            <a:ext cx="3100522" cy="3941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Q5: How do Cross-Sell vs. Non Cross-Sell accounts differ across KPIs and risk metrics?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3E89A1-984A-4500-9453-4203AD1B8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9937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F901D-37EB-FC47-F72A-CA617D980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851" y="1458180"/>
            <a:ext cx="5337242" cy="3941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Avg Credit Score: Cross-Sell = 708 vs. Non Cross-Sell = 720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NSF &amp; Write-Off Risk: Cross-Sell shows significantly lower writeoffs and NSF counts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Lock Days: Cross-Sell accounts experience fewer lock days on average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/>
              <a:t>Insight: Cross-Sell accounts are financially healthier and should be scaled.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FD642B-C569-4ABB-AE20-EFA6BC995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54055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92FED3-1F18-4138-B4E4-627D78B00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64601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4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81DC85-C753-9D89-76AF-E6264937C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0353"/>
            <a:ext cx="11277600" cy="425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977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F10AF-252F-727E-50C4-982C7636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0AA834-5F94-289D-3090-7C1E2608E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999" y="521044"/>
            <a:ext cx="9352281" cy="751308"/>
          </a:xfrm>
        </p:spPr>
        <p:txBody>
          <a:bodyPr>
            <a:normAutofit fontScale="90000"/>
          </a:bodyPr>
          <a:lstStyle/>
          <a:p>
            <a:pPr algn="l"/>
            <a:r>
              <a:rPr lang="en-US" sz="5000" dirty="0">
                <a:solidFill>
                  <a:schemeClr val="bg1"/>
                </a:solidFill>
              </a:rPr>
              <a:t> Final Recommendations to </a:t>
            </a:r>
            <a:r>
              <a:rPr lang="en-US" sz="5000" dirty="0" err="1">
                <a:solidFill>
                  <a:schemeClr val="bg1"/>
                </a:solidFill>
              </a:rPr>
              <a:t>FleetCor</a:t>
            </a: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13DB7F-9F97-70E2-3783-5CC94F82C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1658043"/>
            <a:ext cx="9352281" cy="3350837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1. Prioritize Expanding Cross-Sell Programs: These accounts show lower delinquency, fewer lockouts, and stronger credit metrics (Avg PAYDEX = 72.33 vs. 71.46 for Non Cross-Sell). 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2. Use Eligibility Metrics for Controlled Swap-In: Leverage high Vantage Score, strong PAYDEX, CLI activity, and low NSF as triggers for conversion. Already identified 6,434 eligible accounts. 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3. Implement Swap-Out to Mitigate Risk: Accounts with low PAYDEX, high NSF counts, poor credit grades (C2, F, X), and long lock durations should be targeted for phase-out.</a:t>
            </a:r>
          </a:p>
        </p:txBody>
      </p:sp>
    </p:spTree>
    <p:extLst>
      <p:ext uri="{BB962C8B-B14F-4D97-AF65-F5344CB8AC3E}">
        <p14:creationId xmlns:p14="http://schemas.microsoft.com/office/powerpoint/2010/main" val="686861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5A9A8A-A38B-CDB3-91D0-62A8ACA06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A242916-2697-A222-780F-3A4D855C0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9A7B84F-FFD0-2988-0CC2-2996C9B8D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C269C9F-3E87-E123-D33E-0DBFA4186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C8D2390E-00C2-EBA2-78BF-F2BC60F32E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AA36B328-04DE-746A-3970-5D1C2C5EBA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2540852-6E8F-C3D6-3657-7EFBA09CA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ADE6EA19-9091-EE84-186E-E5D1281D9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85A49CF7-2B94-DCFF-5F4B-296D0BA801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1157A9-CAE0-5A79-D76D-715464C8D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999" y="521044"/>
            <a:ext cx="9352281" cy="751308"/>
          </a:xfrm>
        </p:spPr>
        <p:txBody>
          <a:bodyPr>
            <a:normAutofit fontScale="90000"/>
          </a:bodyPr>
          <a:lstStyle/>
          <a:p>
            <a:pPr algn="l"/>
            <a:r>
              <a:rPr lang="en-US" sz="5000" dirty="0">
                <a:solidFill>
                  <a:schemeClr val="bg1"/>
                </a:solidFill>
              </a:rPr>
              <a:t> Final Recommendations to </a:t>
            </a:r>
            <a:r>
              <a:rPr lang="en-US" sz="5000" dirty="0" err="1">
                <a:solidFill>
                  <a:schemeClr val="bg1"/>
                </a:solidFill>
              </a:rPr>
              <a:t>FleetCor</a:t>
            </a:r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5259C0-9DA2-10FA-3831-7C8F7C09A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1658043"/>
            <a:ext cx="9352281" cy="3350837"/>
          </a:xfrm>
        </p:spPr>
        <p:txBody>
          <a:bodyPr>
            <a:normAutofit/>
          </a:bodyPr>
          <a:lstStyle/>
          <a:p>
            <a:pPr algn="l"/>
            <a:r>
              <a:rPr lang="it-IT" dirty="0">
                <a:solidFill>
                  <a:schemeClr val="bg1"/>
                </a:solidFill>
              </a:rPr>
              <a:t>4. Track Key </a:t>
            </a:r>
            <a:r>
              <a:rPr lang="it-IT" dirty="0" err="1">
                <a:solidFill>
                  <a:schemeClr val="bg1"/>
                </a:solidFill>
              </a:rPr>
              <a:t>KPIs</a:t>
            </a:r>
            <a:r>
              <a:rPr lang="it-IT" dirty="0">
                <a:solidFill>
                  <a:schemeClr val="bg1"/>
                </a:solidFill>
              </a:rPr>
              <a:t> Over Time: Monitor </a:t>
            </a:r>
            <a:r>
              <a:rPr lang="it-IT" dirty="0" err="1">
                <a:solidFill>
                  <a:schemeClr val="bg1"/>
                </a:solidFill>
              </a:rPr>
              <a:t>changes</a:t>
            </a:r>
            <a:r>
              <a:rPr lang="it-IT" dirty="0">
                <a:solidFill>
                  <a:schemeClr val="bg1"/>
                </a:solidFill>
              </a:rPr>
              <a:t> in </a:t>
            </a:r>
            <a:r>
              <a:rPr lang="it-IT" dirty="0" err="1">
                <a:solidFill>
                  <a:schemeClr val="bg1"/>
                </a:solidFill>
              </a:rPr>
              <a:t>Avg</a:t>
            </a:r>
            <a:r>
              <a:rPr lang="it-IT" dirty="0">
                <a:solidFill>
                  <a:schemeClr val="bg1"/>
                </a:solidFill>
              </a:rPr>
              <a:t> CLI, PAYDEX, </a:t>
            </a:r>
            <a:r>
              <a:rPr lang="it-IT" dirty="0" err="1">
                <a:solidFill>
                  <a:schemeClr val="bg1"/>
                </a:solidFill>
              </a:rPr>
              <a:t>Vantage</a:t>
            </a:r>
            <a:r>
              <a:rPr lang="it-IT" dirty="0">
                <a:solidFill>
                  <a:schemeClr val="bg1"/>
                </a:solidFill>
              </a:rPr>
              <a:t> Score, and Write-</a:t>
            </a:r>
            <a:r>
              <a:rPr lang="it-IT" dirty="0" err="1">
                <a:solidFill>
                  <a:schemeClr val="bg1"/>
                </a:solidFill>
              </a:rPr>
              <a:t>Offs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refine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eligibility</a:t>
            </a:r>
            <a:r>
              <a:rPr lang="it-IT" dirty="0">
                <a:solidFill>
                  <a:schemeClr val="bg1"/>
                </a:solidFill>
              </a:rPr>
              <a:t> models. </a:t>
            </a:r>
          </a:p>
          <a:p>
            <a:pPr algn="l"/>
            <a:r>
              <a:rPr lang="it-IT" dirty="0">
                <a:solidFill>
                  <a:schemeClr val="bg1"/>
                </a:solidFill>
              </a:rPr>
              <a:t>5. </a:t>
            </a:r>
            <a:r>
              <a:rPr lang="it-IT" dirty="0" err="1">
                <a:solidFill>
                  <a:schemeClr val="bg1"/>
                </a:solidFill>
              </a:rPr>
              <a:t>Collect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Additional</a:t>
            </a:r>
            <a:r>
              <a:rPr lang="it-IT" dirty="0">
                <a:solidFill>
                  <a:schemeClr val="bg1"/>
                </a:solidFill>
              </a:rPr>
              <a:t> Data: Track </a:t>
            </a:r>
            <a:r>
              <a:rPr lang="it-IT" dirty="0" err="1">
                <a:solidFill>
                  <a:schemeClr val="bg1"/>
                </a:solidFill>
              </a:rPr>
              <a:t>exogenous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factors</a:t>
            </a:r>
            <a:r>
              <a:rPr lang="it-IT" dirty="0">
                <a:solidFill>
                  <a:schemeClr val="bg1"/>
                </a:solidFill>
              </a:rPr>
              <a:t> like market </a:t>
            </a:r>
            <a:r>
              <a:rPr lang="it-IT" dirty="0" err="1">
                <a:solidFill>
                  <a:schemeClr val="bg1"/>
                </a:solidFill>
              </a:rPr>
              <a:t>segment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behavior</a:t>
            </a:r>
            <a:r>
              <a:rPr lang="it-IT" dirty="0">
                <a:solidFill>
                  <a:schemeClr val="bg1"/>
                </a:solidFill>
              </a:rPr>
              <a:t>, </a:t>
            </a:r>
            <a:r>
              <a:rPr lang="it-IT" dirty="0" err="1">
                <a:solidFill>
                  <a:schemeClr val="bg1"/>
                </a:solidFill>
              </a:rPr>
              <a:t>macroeconomic</a:t>
            </a:r>
            <a:r>
              <a:rPr lang="it-IT" dirty="0">
                <a:solidFill>
                  <a:schemeClr val="bg1"/>
                </a:solidFill>
              </a:rPr>
              <a:t> risk scores, and time-</a:t>
            </a:r>
            <a:r>
              <a:rPr lang="it-IT" dirty="0" err="1">
                <a:solidFill>
                  <a:schemeClr val="bg1"/>
                </a:solidFill>
              </a:rPr>
              <a:t>series</a:t>
            </a:r>
            <a:r>
              <a:rPr lang="it-IT" dirty="0">
                <a:solidFill>
                  <a:schemeClr val="bg1"/>
                </a:solidFill>
              </a:rPr>
              <a:t> CLI </a:t>
            </a:r>
            <a:r>
              <a:rPr lang="it-IT" dirty="0" err="1">
                <a:solidFill>
                  <a:schemeClr val="bg1"/>
                </a:solidFill>
              </a:rPr>
              <a:t>usage</a:t>
            </a:r>
            <a:r>
              <a:rPr lang="it-IT" dirty="0">
                <a:solidFill>
                  <a:schemeClr val="bg1"/>
                </a:solidFill>
              </a:rPr>
              <a:t> to </a:t>
            </a:r>
            <a:r>
              <a:rPr lang="it-IT" dirty="0" err="1">
                <a:solidFill>
                  <a:schemeClr val="bg1"/>
                </a:solidFill>
              </a:rPr>
              <a:t>further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enrich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analysis</a:t>
            </a:r>
            <a:r>
              <a:rPr lang="it-IT" dirty="0">
                <a:solidFill>
                  <a:schemeClr val="bg1"/>
                </a:solidFill>
              </a:rPr>
              <a:t>. </a:t>
            </a:r>
          </a:p>
          <a:p>
            <a:pPr algn="l"/>
            <a:r>
              <a:rPr lang="it-IT" dirty="0">
                <a:solidFill>
                  <a:schemeClr val="bg1"/>
                </a:solidFill>
              </a:rPr>
              <a:t>6. </a:t>
            </a:r>
            <a:r>
              <a:rPr lang="it-IT" dirty="0" err="1">
                <a:solidFill>
                  <a:schemeClr val="bg1"/>
                </a:solidFill>
              </a:rPr>
              <a:t>Refine</a:t>
            </a:r>
            <a:r>
              <a:rPr lang="it-IT" dirty="0">
                <a:solidFill>
                  <a:schemeClr val="bg1"/>
                </a:solidFill>
              </a:rPr>
              <a:t> Portfolio Strategy: </a:t>
            </a:r>
            <a:r>
              <a:rPr lang="it-IT" dirty="0" err="1">
                <a:solidFill>
                  <a:schemeClr val="bg1"/>
                </a:solidFill>
              </a:rPr>
              <a:t>Segments</a:t>
            </a:r>
            <a:r>
              <a:rPr lang="it-IT" dirty="0">
                <a:solidFill>
                  <a:schemeClr val="bg1"/>
                </a:solidFill>
              </a:rPr>
              <a:t> like NAP and </a:t>
            </a:r>
            <a:r>
              <a:rPr lang="it-IT" dirty="0" err="1">
                <a:solidFill>
                  <a:schemeClr val="bg1"/>
                </a:solidFill>
              </a:rPr>
              <a:t>Fuelman</a:t>
            </a:r>
            <a:r>
              <a:rPr lang="it-IT" dirty="0">
                <a:solidFill>
                  <a:schemeClr val="bg1"/>
                </a:solidFill>
              </a:rPr>
              <a:t> dominate volume </a:t>
            </a:r>
            <a:r>
              <a:rPr lang="it-IT" dirty="0" err="1">
                <a:solidFill>
                  <a:schemeClr val="bg1"/>
                </a:solidFill>
              </a:rPr>
              <a:t>but</a:t>
            </a:r>
            <a:r>
              <a:rPr lang="it-IT" dirty="0">
                <a:solidFill>
                  <a:schemeClr val="bg1"/>
                </a:solidFill>
              </a:rPr>
              <a:t> show </a:t>
            </a:r>
            <a:r>
              <a:rPr lang="it-IT" dirty="0" err="1">
                <a:solidFill>
                  <a:schemeClr val="bg1"/>
                </a:solidFill>
              </a:rPr>
              <a:t>varying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financial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strength</a:t>
            </a:r>
            <a:r>
              <a:rPr lang="it-IT" dirty="0">
                <a:solidFill>
                  <a:schemeClr val="bg1"/>
                </a:solidFill>
              </a:rPr>
              <a:t>. </a:t>
            </a:r>
            <a:r>
              <a:rPr lang="it-IT" dirty="0" err="1">
                <a:solidFill>
                  <a:schemeClr val="bg1"/>
                </a:solidFill>
              </a:rPr>
              <a:t>Tailor</a:t>
            </a:r>
            <a:r>
              <a:rPr lang="it-IT" dirty="0">
                <a:solidFill>
                  <a:schemeClr val="bg1"/>
                </a:solidFill>
              </a:rPr>
              <a:t> strategy by LOB.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061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56E246-9FE4-F26D-28F1-B7526BBE4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98"/>
            <a:ext cx="12192000" cy="684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36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unch Studio Professional Thank You Note Cards With Envelopes 3 12 x 5  Black Blank Inside Pack Of 50 Cards - Office Depot">
            <a:extLst>
              <a:ext uri="{FF2B5EF4-FFF2-40B4-BE49-F238E27FC236}">
                <a16:creationId xmlns:a16="http://schemas.microsoft.com/office/drawing/2014/main" id="{EF53EEFF-767B-07B9-CBEF-EDBD20235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85" y="-12080"/>
            <a:ext cx="9864429" cy="688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7089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616</Words>
  <Application>Microsoft Office PowerPoint</Application>
  <PresentationFormat>Widescreen</PresentationFormat>
  <Paragraphs>42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Group 3 FleetCor Project</vt:lpstr>
      <vt:lpstr>Q1: How do Swap-In accounts perform compared to Do Not Target accounts in terms of key financial KPIs?</vt:lpstr>
      <vt:lpstr>PowerPoint Presentation</vt:lpstr>
      <vt:lpstr>PowerPoint Presentation</vt:lpstr>
      <vt:lpstr>Q2: What is the segment profile of Non Cross-Sell accounts by Lock Type, Credit Grade, and Line of Business?</vt:lpstr>
      <vt:lpstr>PowerPoint Presentation</vt:lpstr>
      <vt:lpstr>Q3: Who should be eligible for Swap-In based on payment and credit metrics?</vt:lpstr>
      <vt:lpstr>PowerPoint Presentation</vt:lpstr>
      <vt:lpstr>Q4: What risk indicators should be used to Swap-Out accounts?</vt:lpstr>
      <vt:lpstr>PowerPoint Presentation</vt:lpstr>
      <vt:lpstr>Q5: How do Cross-Sell vs. Non Cross-Sell accounts differ across KPIs and risk metrics?</vt:lpstr>
      <vt:lpstr>PowerPoint Presentation</vt:lpstr>
      <vt:lpstr> Final Recommendations to FleetCor</vt:lpstr>
      <vt:lpstr> Final Recommendations to FleetCor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Bizzotto, Giacomo</dc:creator>
  <cp:lastModifiedBy>Dhwani Pathak</cp:lastModifiedBy>
  <cp:revision>33</cp:revision>
  <dcterms:created xsi:type="dcterms:W3CDTF">2025-05-04T23:38:44Z</dcterms:created>
  <dcterms:modified xsi:type="dcterms:W3CDTF">2025-05-05T15:53:35Z</dcterms:modified>
</cp:coreProperties>
</file>